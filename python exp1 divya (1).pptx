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75254" y="2073605"/>
            <a:ext cx="2793491" cy="786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304" y="6391656"/>
            <a:ext cx="8833485" cy="307975"/>
          </a:xfrm>
          <a:custGeom>
            <a:avLst/>
            <a:gdLst/>
            <a:ahLst/>
            <a:cxnLst/>
            <a:rect l="l" t="t" r="r" b="b"/>
            <a:pathLst>
              <a:path w="8833485" h="307975">
                <a:moveTo>
                  <a:pt x="8833104" y="0"/>
                </a:moveTo>
                <a:lnTo>
                  <a:pt x="0" y="0"/>
                </a:lnTo>
                <a:lnTo>
                  <a:pt x="0" y="307848"/>
                </a:lnTo>
                <a:lnTo>
                  <a:pt x="8833104" y="307848"/>
                </a:lnTo>
                <a:lnTo>
                  <a:pt x="8833104" y="0"/>
                </a:lnTo>
                <a:close/>
              </a:path>
            </a:pathLst>
          </a:custGeom>
          <a:solidFill>
            <a:srgbClr val="8AAB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3924" y="160019"/>
            <a:ext cx="8833485" cy="6547484"/>
          </a:xfrm>
          <a:custGeom>
            <a:avLst/>
            <a:gdLst/>
            <a:ahLst/>
            <a:cxnLst/>
            <a:rect l="l" t="t" r="r" b="b"/>
            <a:pathLst>
              <a:path w="8833485" h="6547484">
                <a:moveTo>
                  <a:pt x="4415917" y="6547104"/>
                </a:moveTo>
                <a:lnTo>
                  <a:pt x="0" y="6547104"/>
                </a:lnTo>
                <a:lnTo>
                  <a:pt x="0" y="0"/>
                </a:lnTo>
                <a:lnTo>
                  <a:pt x="8833104" y="0"/>
                </a:lnTo>
                <a:lnTo>
                  <a:pt x="8833104" y="6547104"/>
                </a:lnTo>
                <a:lnTo>
                  <a:pt x="4415917" y="6547104"/>
                </a:lnTo>
                <a:close/>
              </a:path>
            </a:pathLst>
          </a:custGeom>
          <a:ln w="9143">
            <a:solidFill>
              <a:srgbClr val="7996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3572" y="274447"/>
            <a:ext cx="6398895" cy="503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804" y="1112341"/>
            <a:ext cx="7536180" cy="4417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34539" y="273253"/>
            <a:ext cx="3865879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latin typeface="Times New Roman"/>
                <a:cs typeface="Times New Roman"/>
              </a:rPr>
              <a:t>Experiential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Learning </a:t>
            </a:r>
            <a:r>
              <a:rPr sz="3200" dirty="0">
                <a:latin typeface="Times New Roman"/>
                <a:cs typeface="Times New Roman"/>
              </a:rPr>
              <a:t>Project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Assessment-I </a:t>
            </a:r>
            <a:r>
              <a:rPr sz="3200" spc="-25" dirty="0">
                <a:latin typeface="Times New Roman"/>
                <a:cs typeface="Times New Roman"/>
              </a:rPr>
              <a:t>on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rgbClr val="0000FF"/>
                </a:solidFill>
                <a:latin typeface="Times New Roman"/>
                <a:cs typeface="Times New Roman"/>
              </a:rPr>
              <a:t>“English</a:t>
            </a:r>
            <a:r>
              <a:rPr sz="3200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Times New Roman"/>
                <a:cs typeface="Times New Roman"/>
              </a:rPr>
              <a:t>Dictionary”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6992" y="2227325"/>
            <a:ext cx="6556375" cy="821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444" y="3287389"/>
            <a:ext cx="1534160" cy="97028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6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 </a:t>
            </a:r>
            <a:r>
              <a:rPr sz="2000" b="1" spc="-20" dirty="0">
                <a:latin typeface="Times New Roman"/>
                <a:cs typeface="Times New Roman"/>
              </a:rPr>
              <a:t>Divya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Kolhe </a:t>
            </a:r>
            <a:r>
              <a:rPr sz="2000" b="1" spc="-10" dirty="0">
                <a:latin typeface="Times New Roman"/>
                <a:cs typeface="Times New Roman"/>
              </a:rPr>
              <a:t>[CM25017]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8896" y="3284296"/>
            <a:ext cx="221107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</a:t>
            </a:r>
            <a:endParaRPr sz="2000">
              <a:latin typeface="Times New Roman"/>
              <a:cs typeface="Times New Roman"/>
            </a:endParaRPr>
          </a:p>
          <a:p>
            <a:pPr marL="10160" algn="ctr">
              <a:lnSpc>
                <a:spcPct val="100000"/>
              </a:lnSpc>
            </a:pP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7432" y="3285744"/>
            <a:ext cx="1456943" cy="10241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5636" y="4655566"/>
            <a:ext cx="8014970" cy="2033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35530">
              <a:lnSpc>
                <a:spcPts val="2635"/>
              </a:lnSpc>
              <a:spcBef>
                <a:spcPts val="105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1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spc="-5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2311400">
              <a:lnSpc>
                <a:spcPts val="2155"/>
              </a:lnSpc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14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350"/>
              </a:lnSpc>
              <a:spcBef>
                <a:spcPts val="500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MANAGEMENT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286635">
              <a:lnSpc>
                <a:spcPts val="230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>
              <a:latin typeface="Times New Roman"/>
              <a:cs typeface="Times New Roman"/>
            </a:endParaRPr>
          </a:p>
          <a:p>
            <a:pPr marL="484505">
              <a:lnSpc>
                <a:spcPts val="2355"/>
              </a:lnSpc>
            </a:pP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RTMNU,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825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476F4-947D-5552-2B37-DE9EB10389FE}"/>
              </a:ext>
            </a:extLst>
          </p:cNvPr>
          <p:cNvSpPr txBox="1"/>
          <p:nvPr/>
        </p:nvSpPr>
        <p:spPr>
          <a:xfrm>
            <a:off x="457200" y="381000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435A2-79EE-7C5B-F0DF-87A2DE41F70D}"/>
              </a:ext>
            </a:extLst>
          </p:cNvPr>
          <p:cNvSpPr txBox="1"/>
          <p:nvPr/>
        </p:nvSpPr>
        <p:spPr>
          <a:xfrm>
            <a:off x="838200" y="1143000"/>
            <a:ext cx="7239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Objectives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Algorithm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Flowchart / Pseudocode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Understanding of Python Logic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Graphical Representation and Working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GitHub Account, Repository &amp; Collaboration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Individual Contribution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Result / 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240238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10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1.Problem</a:t>
            </a:r>
            <a:r>
              <a:rPr spc="-10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2015" y="6386264"/>
            <a:ext cx="3449320" cy="45974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B. Jain</a:t>
            </a:r>
            <a:r>
              <a:rPr sz="1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Institute</a:t>
            </a:r>
            <a:r>
              <a:rPr sz="1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263" y="1018159"/>
            <a:ext cx="8217534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2585" indent="-34988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62585" algn="l"/>
              </a:tabLst>
            </a:pPr>
            <a:r>
              <a:rPr sz="1800" b="1" spc="-25" dirty="0">
                <a:latin typeface="Arial"/>
                <a:cs typeface="Arial"/>
              </a:rPr>
              <a:t>Aim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English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Dictionary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Python.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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quickly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meaning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English </a:t>
            </a:r>
            <a:r>
              <a:rPr sz="2000" spc="-10" dirty="0">
                <a:latin typeface="Arial MT"/>
                <a:cs typeface="Arial MT"/>
              </a:rPr>
              <a:t>words.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299085" marR="1002030" indent="-28702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pronunciation,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synonyms,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antonyms,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example sentences.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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help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misspelled</a:t>
            </a:r>
            <a:endParaRPr sz="20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word.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important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information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user-</a:t>
            </a:r>
            <a:endParaRPr sz="20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friendly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application.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demonstrate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Python dictionaries,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handling,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APIs,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basic</a:t>
            </a:r>
            <a:r>
              <a:rPr sz="2000" spc="-10" dirty="0">
                <a:latin typeface="Arial MT"/>
                <a:cs typeface="Arial MT"/>
              </a:rPr>
              <a:t> programming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concepts.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2.Objective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804" y="1439037"/>
            <a:ext cx="7851140" cy="41103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Wingdings"/>
              <a:buChar char="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Python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digital</a:t>
            </a:r>
            <a:r>
              <a:rPr sz="2000" spc="-10" dirty="0">
                <a:latin typeface="Arial MT"/>
                <a:cs typeface="Arial MT"/>
              </a:rPr>
              <a:t> dictionary.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25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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English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easier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faster.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9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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useful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details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about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place.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9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vocabulary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spelling.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9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ts val="2280"/>
              </a:lnSpc>
              <a:buFont typeface="Wingdings"/>
              <a:buChar char="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programming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concepts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functions,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dictionaries,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files,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latin typeface="Arial MT"/>
                <a:cs typeface="Arial MT"/>
              </a:rPr>
              <a:t>APIs.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interactive,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easy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understand.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10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152" y="1044955"/>
            <a:ext cx="7261859" cy="469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ts val="2055"/>
              </a:lnSpc>
              <a:spcBef>
                <a:spcPts val="100"/>
              </a:spcBef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Start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</a:t>
            </a:r>
            <a:endParaRPr sz="1800">
              <a:latin typeface="Arial MT"/>
              <a:cs typeface="Arial MT"/>
            </a:endParaRPr>
          </a:p>
          <a:p>
            <a:pPr marL="564515">
              <a:lnSpc>
                <a:spcPts val="1814"/>
              </a:lnSpc>
            </a:pPr>
            <a:r>
              <a:rPr sz="1600" spc="-5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445"/>
              </a:spcBef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Enter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-20" dirty="0">
                <a:latin typeface="Arial MT"/>
                <a:cs typeface="Arial MT"/>
              </a:rPr>
              <a:t>word.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Check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dictionary/API.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Get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details.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Display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meaning,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pronunciation,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synonyms,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antonyms,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example.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wrong,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spelling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suggestions.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Ask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another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search.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Save required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Stop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10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4.Flowchart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6" y="667512"/>
            <a:ext cx="6912863" cy="5580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5.</a:t>
            </a:r>
            <a:r>
              <a:rPr spc="-110" dirty="0"/>
              <a:t> </a:t>
            </a:r>
            <a:r>
              <a:rPr dirty="0"/>
              <a:t>Understanding</a:t>
            </a:r>
            <a:r>
              <a:rPr spc="-12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python</a:t>
            </a:r>
            <a:r>
              <a:rPr spc="-45" dirty="0"/>
              <a:t> </a:t>
            </a:r>
            <a:r>
              <a:rPr spc="-10" dirty="0"/>
              <a:t>logic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801623"/>
            <a:ext cx="4953000" cy="54559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90717" y="941959"/>
            <a:ext cx="326072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Dictionary: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word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details.*</a:t>
            </a:r>
            <a:endParaRPr sz="1800">
              <a:latin typeface="Arial MT"/>
              <a:cs typeface="Arial MT"/>
            </a:endParaRPr>
          </a:p>
          <a:p>
            <a:pPr marL="299085" marR="46990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Input: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 from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spc="-10" dirty="0">
                <a:latin typeface="Arial MT"/>
                <a:cs typeface="Arial MT"/>
              </a:rPr>
              <a:t>user.*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Search: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Checks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whether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word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exists.*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spc="-10" dirty="0">
                <a:latin typeface="Arial MT"/>
                <a:cs typeface="Arial MT"/>
              </a:rPr>
              <a:t>If-</a:t>
            </a:r>
            <a:r>
              <a:rPr sz="1800" dirty="0">
                <a:latin typeface="Arial MT"/>
                <a:cs typeface="Arial MT"/>
              </a:rPr>
              <a:t>Else: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Displays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result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or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error.*</a:t>
            </a:r>
            <a:endParaRPr sz="1800">
              <a:latin typeface="Arial MT"/>
              <a:cs typeface="Arial MT"/>
            </a:endParaRPr>
          </a:p>
          <a:p>
            <a:pPr marL="299085" marR="63500" indent="-287020" algn="just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API: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information.*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Handling: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Saves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search history.*</a:t>
            </a:r>
            <a:endParaRPr sz="1800">
              <a:latin typeface="Arial MT"/>
              <a:cs typeface="Arial MT"/>
            </a:endParaRPr>
          </a:p>
          <a:p>
            <a:pPr marL="299085" indent="-286385" algn="just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Loop: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Allows another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search.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1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6.</a:t>
            </a:r>
            <a:r>
              <a:rPr spc="-75" dirty="0"/>
              <a:t> </a:t>
            </a:r>
            <a:r>
              <a:rPr dirty="0"/>
              <a:t>Graphical</a:t>
            </a:r>
            <a:r>
              <a:rPr spc="-85" dirty="0"/>
              <a:t> </a:t>
            </a:r>
            <a:r>
              <a:rPr dirty="0"/>
              <a:t>Representation</a:t>
            </a:r>
            <a:r>
              <a:rPr spc="-110" dirty="0"/>
              <a:t> </a:t>
            </a:r>
            <a:r>
              <a:rPr dirty="0"/>
              <a:t>and</a:t>
            </a:r>
            <a:r>
              <a:rPr spc="525" dirty="0"/>
              <a:t> </a:t>
            </a:r>
            <a:r>
              <a:rPr spc="-10" dirty="0"/>
              <a:t>Working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734568"/>
            <a:ext cx="8382000" cy="5361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7.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GitHub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Account,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Repository</a:t>
            </a:r>
            <a:r>
              <a:rPr spc="-1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Collaboration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8450" algn="l"/>
              </a:tabLst>
            </a:pPr>
            <a:r>
              <a:rPr b="1" dirty="0">
                <a:latin typeface="Arial"/>
                <a:cs typeface="Arial"/>
              </a:rPr>
              <a:t>Create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GitHub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Account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Set</a:t>
            </a:r>
            <a:r>
              <a:rPr spc="-5" dirty="0"/>
              <a:t> </a:t>
            </a:r>
            <a:r>
              <a:rPr dirty="0"/>
              <a:t>up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personal</a:t>
            </a:r>
            <a:r>
              <a:rPr spc="-50" dirty="0"/>
              <a:t> </a:t>
            </a:r>
            <a:r>
              <a:rPr dirty="0"/>
              <a:t>GitHub</a:t>
            </a:r>
            <a:r>
              <a:rPr spc="-20" dirty="0"/>
              <a:t> </a:t>
            </a:r>
            <a:r>
              <a:rPr spc="-10" dirty="0"/>
              <a:t>account.</a:t>
            </a:r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pc="-10" dirty="0"/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8450" algn="l"/>
              </a:tabLst>
            </a:pPr>
            <a:r>
              <a:rPr b="1" dirty="0">
                <a:latin typeface="Arial"/>
                <a:cs typeface="Arial"/>
              </a:rPr>
              <a:t>Create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Repository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Create</a:t>
            </a:r>
            <a:r>
              <a:rPr spc="-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repository</a:t>
            </a:r>
            <a:r>
              <a:rPr spc="-5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English</a:t>
            </a:r>
            <a:r>
              <a:rPr spc="-35" dirty="0"/>
              <a:t> </a:t>
            </a:r>
            <a:r>
              <a:rPr spc="-10" dirty="0"/>
              <a:t>Dictionary</a:t>
            </a:r>
          </a:p>
          <a:p>
            <a:pPr marL="299085">
              <a:lnSpc>
                <a:spcPct val="100000"/>
              </a:lnSpc>
            </a:pPr>
            <a:r>
              <a:rPr spc="-10" dirty="0"/>
              <a:t>project.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pc="-10" dirty="0"/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8450" algn="l"/>
              </a:tabLst>
            </a:pPr>
            <a:r>
              <a:rPr b="1" dirty="0">
                <a:latin typeface="Arial"/>
                <a:cs typeface="Arial"/>
              </a:rPr>
              <a:t>Upload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Code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spc="10" dirty="0"/>
              <a:t> </a:t>
            </a:r>
            <a:r>
              <a:rPr dirty="0"/>
              <a:t>Upload</a:t>
            </a:r>
            <a:r>
              <a:rPr spc="-4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Python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spc="-10" dirty="0"/>
              <a:t>files.</a:t>
            </a:r>
          </a:p>
          <a:p>
            <a:pPr>
              <a:lnSpc>
                <a:spcPct val="100000"/>
              </a:lnSpc>
              <a:spcBef>
                <a:spcPts val="85"/>
              </a:spcBef>
              <a:buFont typeface="Wingdings"/>
              <a:buChar char=""/>
            </a:pPr>
            <a:endParaRPr spc="-10" dirty="0"/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8450" algn="l"/>
              </a:tabLst>
            </a:pPr>
            <a:r>
              <a:rPr b="1" dirty="0">
                <a:latin typeface="Arial"/>
                <a:cs typeface="Arial"/>
              </a:rPr>
              <a:t>Meaningful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Commits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spc="15" dirty="0"/>
              <a:t> </a:t>
            </a:r>
            <a:r>
              <a:rPr dirty="0"/>
              <a:t>Save changes</a:t>
            </a:r>
            <a:r>
              <a:rPr spc="-6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dirty="0"/>
              <a:t>clear</a:t>
            </a:r>
            <a:r>
              <a:rPr spc="-45" dirty="0"/>
              <a:t> </a:t>
            </a:r>
            <a:r>
              <a:rPr dirty="0"/>
              <a:t>commit</a:t>
            </a:r>
            <a:r>
              <a:rPr spc="-40" dirty="0"/>
              <a:t> </a:t>
            </a:r>
            <a:r>
              <a:rPr spc="-10" dirty="0"/>
              <a:t>messages.</a:t>
            </a:r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pc="-10" dirty="0"/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b="1" dirty="0">
                <a:latin typeface="Arial"/>
                <a:cs typeface="Arial"/>
              </a:rPr>
              <a:t>Collaboration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spc="5" dirty="0"/>
              <a:t> </a:t>
            </a:r>
            <a:r>
              <a:rPr dirty="0"/>
              <a:t>Share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repository</a:t>
            </a:r>
            <a:r>
              <a:rPr spc="-6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dirty="0"/>
              <a:t>team</a:t>
            </a:r>
            <a:r>
              <a:rPr spc="-45" dirty="0"/>
              <a:t> </a:t>
            </a:r>
            <a:r>
              <a:rPr dirty="0"/>
              <a:t>members</a:t>
            </a:r>
            <a:r>
              <a:rPr spc="-4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20" dirty="0"/>
              <a:t>work</a:t>
            </a: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together.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pc="-10" dirty="0"/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b="1" dirty="0">
                <a:latin typeface="Arial"/>
                <a:cs typeface="Arial"/>
              </a:rPr>
              <a:t>Individual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Contribution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Each</a:t>
            </a:r>
            <a:r>
              <a:rPr spc="-15" dirty="0"/>
              <a:t> </a:t>
            </a:r>
            <a:r>
              <a:rPr dirty="0"/>
              <a:t>member</a:t>
            </a:r>
            <a:r>
              <a:rPr spc="-40" dirty="0"/>
              <a:t> </a:t>
            </a:r>
            <a:r>
              <a:rPr dirty="0"/>
              <a:t>contributes</a:t>
            </a:r>
            <a:r>
              <a:rPr spc="-8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commits</a:t>
            </a:r>
            <a:r>
              <a:rPr spc="-50" dirty="0"/>
              <a:t> </a:t>
            </a:r>
            <a:r>
              <a:rPr spc="-10" dirty="0"/>
              <a:t>their</a:t>
            </a:r>
          </a:p>
          <a:p>
            <a:pPr marL="299085">
              <a:lnSpc>
                <a:spcPct val="100000"/>
              </a:lnSpc>
            </a:pPr>
            <a:r>
              <a:rPr spc="-10" dirty="0"/>
              <a:t>work.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pc="-10" dirty="0"/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b="1" dirty="0">
                <a:latin typeface="Arial"/>
                <a:cs typeface="Arial"/>
              </a:rPr>
              <a:t>Track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Changes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spc="15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dirty="0"/>
              <a:t>GitHub</a:t>
            </a:r>
            <a:r>
              <a:rPr spc="-1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manage</a:t>
            </a:r>
            <a:r>
              <a:rPr spc="-6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track</a:t>
            </a:r>
            <a:r>
              <a:rPr spc="-30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spc="-10" dirty="0"/>
              <a:t>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Calibri"/>
                <a:cs typeface="Calibri"/>
              </a:rPr>
              <a:t>8.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Individual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Contribution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8300" y="1075690"/>
            <a:ext cx="7371080" cy="496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8450" algn="l"/>
              </a:tabLst>
            </a:pPr>
            <a:r>
              <a:rPr sz="1800" b="1" dirty="0">
                <a:latin typeface="Arial"/>
                <a:cs typeface="Arial"/>
              </a:rPr>
              <a:t>Problem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Analysis</a:t>
            </a:r>
            <a:r>
              <a:rPr sz="1800" b="1" spc="8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Understood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requirements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 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English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Dictionary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application.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sz="1800" b="1" dirty="0">
                <a:latin typeface="Arial"/>
                <a:cs typeface="Arial"/>
              </a:rPr>
              <a:t>Algorithm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Design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steps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searching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spelling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suggestions.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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Python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Coding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Developed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dictionary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Python.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7815" marR="624205" indent="-285750">
              <a:lnSpc>
                <a:spcPct val="100000"/>
              </a:lnSpc>
              <a:buFont typeface="Wingdings"/>
              <a:buChar char="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API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Integration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API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get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 meanings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 	details.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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Testing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checked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application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results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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GitHub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Contribution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Uploaded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made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meaningful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commits.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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Documentation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&amp;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PPT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Prepared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project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explanation,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flowchart,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and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presentation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slides.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10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95"/>
              </a:spcBef>
            </a:pPr>
            <a:r>
              <a:rPr dirty="0"/>
              <a:t>9.</a:t>
            </a:r>
            <a:r>
              <a:rPr spc="-35" dirty="0"/>
              <a:t> </a:t>
            </a:r>
            <a:r>
              <a:rPr dirty="0"/>
              <a:t>Result</a:t>
            </a:r>
            <a:r>
              <a:rPr spc="-15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dirty="0"/>
              <a:t>Expected</a:t>
            </a:r>
            <a:r>
              <a:rPr spc="-25" dirty="0"/>
              <a:t> </a:t>
            </a:r>
            <a:r>
              <a:rPr spc="-10" dirty="0"/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688" y="1363175"/>
            <a:ext cx="7083492" cy="37825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dirty="0">
                <a:solidFill>
                  <a:srgbClr val="0000FF"/>
                </a:solidFill>
                <a:latin typeface="Calibri"/>
                <a:cs typeface="Calibri"/>
              </a:rPr>
              <a:t>Thank</a:t>
            </a:r>
            <a:r>
              <a:rPr sz="5000" spc="-2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5000" spc="-25" dirty="0">
                <a:solidFill>
                  <a:srgbClr val="0000FF"/>
                </a:solidFill>
                <a:latin typeface="Calibri"/>
                <a:cs typeface="Calibri"/>
              </a:rPr>
              <a:t>You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5126" y="3310839"/>
            <a:ext cx="5715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English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dictionary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application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using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python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585</Words>
  <Application>Microsoft Office PowerPoint</Application>
  <PresentationFormat>On-screen Show (4:3)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MT</vt:lpstr>
      <vt:lpstr>Calibri</vt:lpstr>
      <vt:lpstr>Times New Roman</vt:lpstr>
      <vt:lpstr>Wingdings</vt:lpstr>
      <vt:lpstr>Office Theme</vt:lpstr>
      <vt:lpstr>Experiential Learning Project Assessment-I on “English Dictionary”</vt:lpstr>
      <vt:lpstr>PowerPoint Presentation</vt:lpstr>
      <vt:lpstr>1.Problem statement</vt:lpstr>
      <vt:lpstr>2.Objective</vt:lpstr>
      <vt:lpstr>3. Algorithm</vt:lpstr>
      <vt:lpstr>4.Flowchart</vt:lpstr>
      <vt:lpstr>5. Understanding of python logic</vt:lpstr>
      <vt:lpstr>6. Graphical Representation and Working</vt:lpstr>
      <vt:lpstr>7. GitHub Account, Repository &amp; Collaboration</vt:lpstr>
      <vt:lpstr>8. Individual Contribution</vt:lpstr>
      <vt:lpstr>9. Result / Expected Output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Disha Kolhe</cp:lastModifiedBy>
  <cp:revision>1</cp:revision>
  <dcterms:created xsi:type="dcterms:W3CDTF">2026-08-17T17:34:34Z</dcterms:created>
  <dcterms:modified xsi:type="dcterms:W3CDTF">2026-08-17T17:39:55Z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2026-08-17T00:00:00Z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2026-08-17T00:00:00Z</vt:filetime>
  </property>
  <property fmtid="{D5CDD505-2E9C-101B-9397-08002B2CF9AE}" pid="6" name="Producer">
    <vt:lpwstr>www.ilovepdf.com</vt:lpwstr>
  </property>
</Properties>
</file>